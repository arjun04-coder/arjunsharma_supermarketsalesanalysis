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Cheese</c:v>
                </c:pt>
                <c:pt idx="1">
                  <c:v>Coffee</c:v>
                </c:pt>
                <c:pt idx="2">
                  <c:v>Shampoo</c:v>
                </c:pt>
                <c:pt idx="3">
                  <c:v>Cooking Oil</c:v>
                </c:pt>
                <c:pt idx="4">
                  <c:v>Tea</c:v>
                </c:pt>
                <c:pt idx="5">
                  <c:v>Apples</c:v>
                </c:pt>
                <c:pt idx="6">
                  <c:v>Face Wash</c:v>
                </c:pt>
                <c:pt idx="7">
                  <c:v>Rice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27906.3</c:v>
                </c:pt>
                <c:pt idx="1">
                  <c:v>27694.87</c:v>
                </c:pt>
                <c:pt idx="2">
                  <c:v>27497.48</c:v>
                </c:pt>
                <c:pt idx="3">
                  <c:v>21525.06</c:v>
                </c:pt>
                <c:pt idx="4">
                  <c:v>17681.59</c:v>
                </c:pt>
                <c:pt idx="5">
                  <c:v>17057.41</c:v>
                </c:pt>
                <c:pt idx="6">
                  <c:v>11946.85</c:v>
                </c:pt>
                <c:pt idx="7">
                  <c:v>11754.17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Beverages</c:v>
                </c:pt>
                <c:pt idx="1">
                  <c:v>Personal Care</c:v>
                </c:pt>
                <c:pt idx="2">
                  <c:v>Dairy</c:v>
                </c:pt>
                <c:pt idx="3">
                  <c:v>Grocery</c:v>
                </c:pt>
                <c:pt idx="4">
                  <c:v>Fruits</c:v>
                </c:pt>
                <c:pt idx="5">
                  <c:v>Snacks</c:v>
                </c:pt>
                <c:pt idx="6">
                  <c:v>Vegetables</c:v>
                </c:pt>
                <c:pt idx="7">
                  <c:v>Bakery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56108.24</c:v>
                </c:pt>
                <c:pt idx="1">
                  <c:v>45943.96</c:v>
                </c:pt>
                <c:pt idx="2">
                  <c:v>43992.0</c:v>
                </c:pt>
                <c:pt idx="3">
                  <c:v>40470.47</c:v>
                </c:pt>
                <c:pt idx="4">
                  <c:v>23263.170000000002</c:v>
                </c:pt>
                <c:pt idx="5">
                  <c:v>16992.97</c:v>
                </c:pt>
                <c:pt idx="6">
                  <c:v>11124.17</c:v>
                </c:pt>
                <c:pt idx="7">
                  <c:v>6516.1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UPI</c:v>
                </c:pt>
                <c:pt idx="1">
                  <c:v>Net Banking</c:v>
                </c:pt>
                <c:pt idx="2">
                  <c:v>Card</c:v>
                </c:pt>
                <c:pt idx="3">
                  <c:v>Cash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127</c:v>
                </c:pt>
                <c:pt idx="1">
                  <c:v>126</c:v>
                </c:pt>
                <c:pt idx="2">
                  <c:v>125</c:v>
                </c:pt>
                <c:pt idx="3">
                  <c:v>122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0"/>
            <a:ext cx="2587752" cy="960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61320" y="960120"/>
            <a:ext cx="1627632" cy="2011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172200"/>
            <a:ext cx="2926080" cy="685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583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ptos"/>
              </a:rPr>
              <a:t>DATA ANALYTICS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61872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"/>
              </a:rPr>
              <a:t>Supermarket
Sales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992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Aptos"/>
              </a:rPr>
              <a:t>Turning 500 transactions into actionable business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657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Aptos"/>
              </a:rPr>
              <a:t>Python  •  Pandas  •  Matplotlib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440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Arjun Sharma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8064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tos"/>
              </a:rPr>
              <a:t>AICTE | IBM SkillsBuild Data Analytics with AI Internship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9488"/>
                </a:solidFill>
                <a:latin typeface="Aptos"/>
              </a:rPr>
              <a:t>01 |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What business question are we solving?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The project converts transaction-level data into decisions a supermarket can act 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8046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AICTE | IBM SkillsBuild Data Analytics with AI Internship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0D9488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64008" cy="1828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039112"/>
            <a:ext cx="3063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75569"/>
                </a:solidFill>
                <a:latin typeface="Aptos"/>
              </a:rPr>
              <a:t>SALES PERFORMANCE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3063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What sells?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907791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Find high-sales products and categories.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874519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874519"/>
            <a:ext cx="64008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039112"/>
            <a:ext cx="3063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75569"/>
                </a:solidFill>
                <a:latin typeface="Aptos"/>
              </a:rPr>
              <a:t>BRANCH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350008"/>
            <a:ext cx="3063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Where?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907791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Compare sales across branches/cities.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3" y="1874519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1583" y="1874519"/>
            <a:ext cx="64008" cy="1828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2039112"/>
            <a:ext cx="3063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75569"/>
                </a:solidFill>
                <a:latin typeface="Aptos"/>
              </a:rPr>
              <a:t>CUSTOMER BEHAVIOR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2350008"/>
            <a:ext cx="3063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How?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2907791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Understand payments, customer type and ratings.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160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Aptos"/>
              </a:rPr>
              <a:t>Project objective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52628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"/>
              </a:rPr>
              <a:t>Identify useful patterns in products, branches, categories, customers, payment methods and ratings — then translate those patterns into practical recommendations.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9488"/>
                </a:solidFill>
                <a:latin typeface="Aptos"/>
              </a:rPr>
              <a:t>02 |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Know the data before interpreting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Supplied internship dataset: 500 transactions and 13 fields.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8046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AICTE | IBM SkillsBuild Data Analytics with AI Internship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0D9488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64008" cy="1508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93392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75569"/>
                </a:solidFill>
                <a:latin typeface="Aptos"/>
              </a:rPr>
              <a:t>TRANSACTIONS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04288"/>
            <a:ext cx="2148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86207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Rows in dataset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568" y="182880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28800"/>
            <a:ext cx="64008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1993392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75569"/>
                </a:solidFill>
                <a:latin typeface="Aptos"/>
              </a:rPr>
              <a:t>FIELDS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2736" y="2304288"/>
            <a:ext cx="2148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2736" y="286207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Transaction + customer attributes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182880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63056" y="1828800"/>
            <a:ext cx="64008" cy="1508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1993392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75569"/>
                </a:solidFill>
                <a:latin typeface="Aptos"/>
              </a:rPr>
              <a:t>TOTAL SALES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2304288"/>
            <a:ext cx="2148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₹244,411.08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286207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All transactions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24544" y="182880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24544" y="1828800"/>
            <a:ext cx="64008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25712" y="1993392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75569"/>
                </a:solidFill>
                <a:latin typeface="Aptos"/>
              </a:rPr>
              <a:t>AVG. TRANSACTION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5712" y="2304288"/>
            <a:ext cx="2148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₹488.82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5712" y="286207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Mean transaction value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822191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Aptos"/>
              </a:rPr>
              <a:t>Key fields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4224528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Aptos"/>
              </a:rPr>
              <a:t>Invoice ID • Date • Branch • City • Customer Type • Gender • Product • Category • Quantity • Unit Price • Payment • Rating • Sales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9488"/>
                </a:solidFill>
                <a:latin typeface="Aptos"/>
              </a:rPr>
              <a:t>03 |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A reproducible analytics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Load → clean → validate → aggregate → visualize → recommend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8046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AICTE | IBM SkillsBuild Data Analytics with AI Internship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0D9488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965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92938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4963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Import CSV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78308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1965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192938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CLEAN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4963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Types + missing values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78308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8" y="1965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192938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24963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Quantity × Unit Price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84048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40233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98678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ANALYZE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45537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Group + aggregate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84048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36008" y="40233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398678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VISUALIZE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36008" y="45537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Charts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384048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0768" y="40233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ptos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398678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DECIDE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0768" y="45537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Business actions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9488"/>
                </a:solidFill>
                <a:latin typeface="Aptos"/>
              </a:rPr>
              <a:t>04 | 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Validation before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The supplied CSV was executed through the project analysis script and checked against the sales formula.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8046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AICTE | IBM SkillsBuild Data Analytics with AI Internship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0D9488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32461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64008" cy="1554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93392"/>
            <a:ext cx="2880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75569"/>
                </a:solidFill>
                <a:latin typeface="Aptos"/>
              </a:rPr>
              <a:t>MISSING VALUES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04288"/>
            <a:ext cx="2880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862072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Across all 500 rows × 13 columns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828800"/>
            <a:ext cx="32461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20" y="1828800"/>
            <a:ext cx="64008" cy="1554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8" y="1993392"/>
            <a:ext cx="2880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75569"/>
                </a:solidFill>
                <a:latin typeface="Aptos"/>
              </a:rPr>
              <a:t>SALES FORMULA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2304288"/>
            <a:ext cx="2880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MATCH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2862072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Sales = Quantity × Unit Price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1828800"/>
            <a:ext cx="32461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80960" y="1828800"/>
            <a:ext cx="64008" cy="1554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82128" y="1993392"/>
            <a:ext cx="2880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75569"/>
                </a:solidFill>
                <a:latin typeface="Aptos"/>
              </a:rPr>
              <a:t>MAX. DIFFERENCE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2128" y="2304288"/>
            <a:ext cx="2880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4.55e−13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82128" y="2862072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Floating-point precision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97763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Aptos"/>
              </a:rPr>
              <a:t>Verification 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37083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"/>
              </a:rPr>
              <a:t>The analysis script runs successfully. All 500 rows load, no missing values are present, and every Sales value agrees with Quantity × Unit Price within numerical precision.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9488"/>
                </a:solidFill>
                <a:latin typeface="Aptos"/>
              </a:rPr>
              <a:t>05 | SALES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Where is sales concentrated?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Product and branch-level comparisons.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8046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AICTE | IBM SkillsBuild Data Analytics with AI Internship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0D9488"/>
                </a:solidFill>
                <a:latin typeface="Aptos"/>
              </a:rPr>
              <a:t>06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94360" y="1737360"/>
          <a:ext cx="644652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60920" y="1828800"/>
            <a:ext cx="4160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60920" y="1828800"/>
            <a:ext cx="64008" cy="1417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62088" y="1993392"/>
            <a:ext cx="37947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75569"/>
                </a:solidFill>
                <a:latin typeface="Aptos"/>
              </a:rPr>
              <a:t>TOP PRODUCT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62088" y="2304288"/>
            <a:ext cx="379475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Cheese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62088" y="2862072"/>
            <a:ext cx="3794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₹27,906.30 sales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3456432"/>
            <a:ext cx="4160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3456432"/>
            <a:ext cx="64008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62088" y="3621024"/>
            <a:ext cx="37947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75569"/>
                </a:solidFill>
                <a:latin typeface="Aptos"/>
              </a:rPr>
              <a:t>TOP BRANCH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2088" y="3931920"/>
            <a:ext cx="379475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C — Mumbai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2088" y="4489704"/>
            <a:ext cx="3794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₹72,469.45 sales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5230368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The highest-sales product and branch are natural candidates for deeper inventory and operational analysis.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9488"/>
                </a:solidFill>
                <a:latin typeface="Aptos"/>
              </a:rPr>
              <a:t>06 | CATEGORY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Which category leads?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Category-level sales reveal the largest revenue pool.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8046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AICTE | IBM SkillsBuild Data Analytics with AI Internship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0D9488"/>
                </a:solidFill>
                <a:latin typeface="Aptos"/>
              </a:rPr>
              <a:t>07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94360" y="1737360"/>
          <a:ext cx="736092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275320" y="182880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75320" y="1828800"/>
            <a:ext cx="64008" cy="1508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76488" y="1993392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75569"/>
                </a:solidFill>
                <a:latin typeface="Aptos"/>
              </a:rPr>
              <a:t>#1 CATEGORY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6488" y="2304288"/>
            <a:ext cx="2971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Beverages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6488" y="286207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₹56,108.24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794760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Beverages is the highest-sales category in the supplied dataset.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4681728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Category performance can inform stock monitoring, promotions and assortment review.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9488"/>
                </a:solidFill>
                <a:latin typeface="Aptos"/>
              </a:rPr>
              <a:t>07 | CUSTOMER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How are customers buying?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Payment usage, customer-type spending and ratings.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8046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AICTE | IBM SkillsBuild Data Analytics with AI Internship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0D9488"/>
                </a:solidFill>
                <a:latin typeface="Aptos"/>
              </a:rPr>
              <a:t>08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94360" y="1737360"/>
          <a:ext cx="562356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37960" y="1783080"/>
            <a:ext cx="2377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37960" y="1783080"/>
            <a:ext cx="64008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39128" y="194767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75569"/>
                </a:solidFill>
                <a:latin typeface="Aptos"/>
              </a:rPr>
              <a:t>MOST 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9128" y="2258568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UPI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9128" y="28163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127 transactions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783080"/>
            <a:ext cx="2377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98280" y="1783080"/>
            <a:ext cx="64008" cy="1417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99448" y="194767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75569"/>
                </a:solidFill>
                <a:latin typeface="Aptos"/>
              </a:rPr>
              <a:t>MEMBER AVG.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9448" y="2258568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₹483.14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9448" y="28163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Average transaction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3429000"/>
            <a:ext cx="2377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37960" y="3429000"/>
            <a:ext cx="64008" cy="1417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39128" y="359359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75569"/>
                </a:solidFill>
                <a:latin typeface="Aptos"/>
              </a:rPr>
              <a:t>NORMAL AVG.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9128" y="3904487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₹497.07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9128" y="44622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Average transaction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8280" y="3429000"/>
            <a:ext cx="2377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98280" y="3429000"/>
            <a:ext cx="64008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9448" y="359359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75569"/>
                </a:solidFill>
                <a:latin typeface="Aptos"/>
              </a:rPr>
              <a:t>RATING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9448" y="3904487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3.99 /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9448" y="44622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Average customer rating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513892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These are observed patterns; they do not by themselves establish causation.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9488"/>
                </a:solidFill>
                <a:latin typeface="Aptos"/>
              </a:rPr>
              <a:t>08 |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The story in six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A compact executive view of the analysis.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8046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AICTE | IBM SkillsBuild Data Analytics with AI Internship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0D9488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3337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64008" cy="1554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47672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75569"/>
                </a:solidFill>
                <a:latin typeface="Aptos"/>
              </a:rPr>
              <a:t>Total 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258568"/>
            <a:ext cx="2971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₹244.4K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783080"/>
            <a:ext cx="3337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783080"/>
            <a:ext cx="64008" cy="1554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1947672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75569"/>
                </a:solidFill>
                <a:latin typeface="Aptos"/>
              </a:rPr>
              <a:t>Cheese — top 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258568"/>
            <a:ext cx="2971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₹27.9K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783080"/>
            <a:ext cx="3337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783080"/>
            <a:ext cx="64008" cy="1554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0768" y="1947672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75569"/>
                </a:solidFill>
                <a:latin typeface="Aptos"/>
              </a:rPr>
              <a:t>Branch C / Mumbai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2258568"/>
            <a:ext cx="2971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₹72.5K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749039"/>
            <a:ext cx="3337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749039"/>
            <a:ext cx="64008" cy="1554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3913631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75569"/>
                </a:solidFill>
                <a:latin typeface="Aptos"/>
              </a:rPr>
              <a:t>Beverages — top category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4224527"/>
            <a:ext cx="2971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₹56.1K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749039"/>
            <a:ext cx="3337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34840" y="3749039"/>
            <a:ext cx="64008" cy="1554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36008" y="3913631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75569"/>
                </a:solidFill>
                <a:latin typeface="Aptos"/>
              </a:rPr>
              <a:t>UPI transactions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36008" y="4224527"/>
            <a:ext cx="2971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127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3749039"/>
            <a:ext cx="3337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0" y="3749039"/>
            <a:ext cx="64008" cy="1554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30768" y="3913631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75569"/>
                </a:solidFill>
                <a:latin typeface="Aptos"/>
              </a:rPr>
              <a:t>Average rating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0768" y="4224527"/>
            <a:ext cx="2971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3.99 / 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9488"/>
                </a:solidFill>
                <a:latin typeface="Aptos"/>
              </a:rPr>
              <a:t>09 |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From insight to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Recommendations directly tied to observed transaction patterns.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8046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AICTE | IBM SkillsBuild Data Analytics with AI Internship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0D9488"/>
                </a:solidFill>
                <a:latin typeface="Apto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6459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Inventory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645920"/>
            <a:ext cx="79552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Monitor stock and promotions for high-sales products, especially Cheese.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9631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4963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Branch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496312"/>
            <a:ext cx="79552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Study operational and sales patterns behind Branch C in Mumbai.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34670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34670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Payments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3346704"/>
            <a:ext cx="79552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Continue supporting UPI while keeping alternative payment options.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9709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9709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Customer experience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4197096"/>
            <a:ext cx="79552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Use rating patterns to identify opportunities for service improvement.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0474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ptos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04748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Membership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5047488"/>
            <a:ext cx="79552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Use customer-type spending patterns when designing offers.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ptos"/>
              </a:rPr>
              <a:t>10 |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Data → Insight →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5740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CBD5E1"/>
                </a:solidFill>
                <a:latin typeface="Aptos"/>
              </a:rPr>
              <a:t>Transaction-level supermarket data can be transformed into clear business insights using Python and data analytics techniques.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886200"/>
            <a:ext cx="3154680" cy="1234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14223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  <a:latin typeface="Aptos"/>
              </a:rPr>
              <a:t>INVENTORY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079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tos"/>
              </a:rPr>
              <a:t>Focus on high-sales products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3886200"/>
            <a:ext cx="3154680" cy="1234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414223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Aptos"/>
              </a:rPr>
              <a:t>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45079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tos"/>
              </a:rPr>
              <a:t>Study branch performance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3886200"/>
            <a:ext cx="3154680" cy="1234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414223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  <a:latin typeface="Aptos"/>
              </a:rPr>
              <a:t>CUSTOMER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45079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tos"/>
              </a:rPr>
              <a:t>Support payments + 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715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